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82CB5-B5DA-5648-B6CC-93E77EF3FB0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A3D54-DD8F-6E45-8657-21367690F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03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3" Type="http://schemas.openxmlformats.org/officeDocument/2006/relationships/image" Target="../media/image3.png" /><Relationship Id="rId7" Type="http://schemas.openxmlformats.org/officeDocument/2006/relationships/image" Target="../media/image6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png" /><Relationship Id="rId5" Type="http://schemas.openxmlformats.org/officeDocument/2006/relationships/image" Target="../media/image2.png" /><Relationship Id="rId4" Type="http://schemas.openxmlformats.org/officeDocument/2006/relationships/image" Target="../media/image4.png" /><Relationship Id="rId9" Type="http://schemas.openxmlformats.org/officeDocument/2006/relationships/image" Target="../media/image8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8.png" /><Relationship Id="rId4" Type="http://schemas.openxmlformats.org/officeDocument/2006/relationships/image" Target="../media/image2.pn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 /><Relationship Id="rId3" Type="http://schemas.openxmlformats.org/officeDocument/2006/relationships/image" Target="../media/image3.png" /><Relationship Id="rId7" Type="http://schemas.openxmlformats.org/officeDocument/2006/relationships/image" Target="../media/image9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2.png" /><Relationship Id="rId4" Type="http://schemas.openxmlformats.org/officeDocument/2006/relationships/image" Target="../media/image9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058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219456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365760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51206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60350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82296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0" y="201168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0" y="347472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1704320" y="493776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0" y="594360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5682996" y="12344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0" descr="icons/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62" y="1419606"/>
            <a:ext cx="452628" cy="4526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0" y="233172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HYDRAID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1371600" y="342900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Identifiability-aware diagnosis of leaks, demand shifts, and sensor faults</a:t>
            </a:r>
            <a:endParaRPr lang="en-US" sz="17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sparse water networks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271516" y="4526280"/>
            <a:ext cx="1645920" cy="0"/>
          </a:xfrm>
          <a:prstGeom prst="line">
            <a:avLst/>
          </a:prstGeom>
          <a:noFill/>
          <a:ln w="25400">
            <a:solidFill>
              <a:srgbClr val="E893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0" y="48006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HydraID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0" y="5138928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AI Build Challenge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35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45M m³/day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791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leaks in developing-country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networks (World Bank)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35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&gt;$3B/year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41422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economic cost of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non-revenue water loss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892040"/>
            <a:ext cx="5120640" cy="1417320"/>
          </a:xfrm>
          <a:prstGeom prst="rect">
            <a:avLst/>
          </a:prstGeom>
          <a:solidFill>
            <a:srgbClr val="13567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074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costly mistake isn't just missing a leak —</a:t>
            </a:r>
            <a:endParaRPr lang="en-US" sz="1500" dirty="0"/>
          </a:p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sending a crew for a false alarm.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1965960"/>
            <a:ext cx="502920" cy="502920"/>
          </a:xfrm>
          <a:prstGeom prst="ellipse">
            <a:avLst/>
          </a:prstGeom>
          <a:solidFill>
            <a:srgbClr val="E8935B"/>
          </a:solidFill>
          <a:ln/>
        </p:spPr>
      </p:sp>
      <p:pic>
        <p:nvPicPr>
          <p:cNvPr id="11" name="Image 0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397" y="2079117"/>
            <a:ext cx="276606" cy="27660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78040" y="1965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pressure anomaly appears, the cause could be: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92240" y="2743200"/>
            <a:ext cx="5074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20840" y="28163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720840" y="31455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loss in a pipe segment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92240" y="3703320"/>
            <a:ext cx="5074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20840" y="37764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 shift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720840" y="410565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change in consumption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92240" y="4663440"/>
            <a:ext cx="5074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20840" y="47365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sensor fault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720840" y="506577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meter is lying, not the network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92240" y="57150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from sparse sensor data alone, they can look identical.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HydraID — Exasol AI Build Challenge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Already Exists — and the Gap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exists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Bayesian inverse leak localization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0815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Physics-informed GNNs for network state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6484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Top-K probabilistic leak localization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1356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54203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25420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leak vs. demand vs. sensor-fault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5160" y="31089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when causes are truly indistinguishable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67588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95160" y="367588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next cheapest check to resolve it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562356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E8935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contribution: the integrated decision loop — not a new leak detector.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HydraID — Exasol AI Build Challenge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HydraID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79476" y="237744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2578608"/>
            <a:ext cx="512064" cy="512064"/>
          </a:xfrm>
          <a:prstGeom prst="ellipse">
            <a:avLst/>
          </a:prstGeom>
          <a:solidFill>
            <a:srgbClr val="13567A"/>
          </a:solidFill>
          <a:ln/>
        </p:spPr>
      </p:sp>
      <p:pic>
        <p:nvPicPr>
          <p:cNvPr id="6" name="Image 0" descr="icons/drop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78" y="269382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4340" y="3246120"/>
            <a:ext cx="1581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071116" y="29718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327148" y="237744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16936" y="2578608"/>
            <a:ext cx="512064" cy="512064"/>
          </a:xfrm>
          <a:prstGeom prst="ellipse">
            <a:avLst/>
          </a:prstGeom>
          <a:solidFill>
            <a:srgbClr val="13567A"/>
          </a:solidFill>
          <a:ln/>
        </p:spPr>
      </p:sp>
      <p:pic>
        <p:nvPicPr>
          <p:cNvPr id="11" name="Image 1" descr="icons/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2150" y="269382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82012" y="3246120"/>
            <a:ext cx="1581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simulation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(WNTR / EPANET)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018788" y="29718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274820" y="237744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64608" y="2578608"/>
            <a:ext cx="512064" cy="512064"/>
          </a:xfrm>
          <a:prstGeom prst="ellipse">
            <a:avLst/>
          </a:prstGeom>
          <a:solidFill>
            <a:srgbClr val="13567A"/>
          </a:solidFill>
          <a:ln/>
        </p:spPr>
      </p:sp>
      <p:pic>
        <p:nvPicPr>
          <p:cNvPr id="16" name="Image 2" descr="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9822" y="269382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29684" y="3246120"/>
            <a:ext cx="1581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966460" y="29718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222492" y="237744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12280" y="2578608"/>
            <a:ext cx="512064" cy="512064"/>
          </a:xfrm>
          <a:prstGeom prst="ellipse">
            <a:avLst/>
          </a:prstGeom>
          <a:solidFill>
            <a:srgbClr val="13567A"/>
          </a:solidFill>
          <a:ln/>
        </p:spPr>
      </p:sp>
      <p:pic>
        <p:nvPicPr>
          <p:cNvPr id="21" name="Image 3" descr="icons/bal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7494" y="269382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77356" y="3246120"/>
            <a:ext cx="1581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posterior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914132" y="29718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8170164" y="237744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759952" y="2578608"/>
            <a:ext cx="512064" cy="512064"/>
          </a:xfrm>
          <a:prstGeom prst="ellipse">
            <a:avLst/>
          </a:prstGeom>
          <a:solidFill>
            <a:srgbClr val="13567A"/>
          </a:solidFill>
          <a:ln/>
        </p:spPr>
      </p:sp>
      <p:pic>
        <p:nvPicPr>
          <p:cNvPr id="26" name="Image 4" descr="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5166" y="2693822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25028" y="3246120"/>
            <a:ext cx="1581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Identifiability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9861804" y="29718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2"/>
          <p:cNvSpPr/>
          <p:nvPr/>
        </p:nvSpPr>
        <p:spPr>
          <a:xfrm>
            <a:off x="10117836" y="237744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0707624" y="2578608"/>
            <a:ext cx="512064" cy="512064"/>
          </a:xfrm>
          <a:prstGeom prst="ellipse">
            <a:avLst/>
          </a:prstGeom>
          <a:solidFill>
            <a:srgbClr val="E8935B"/>
          </a:solidFill>
          <a:ln/>
        </p:spPr>
      </p:sp>
      <p:pic>
        <p:nvPicPr>
          <p:cNvPr id="31" name="Image 5" descr="icons/roc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2838" y="2693822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172700" y="3246120"/>
            <a:ext cx="1581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next-check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457200" y="461772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</p:spPr>
      </p:sp>
      <p:sp>
        <p:nvSpPr>
          <p:cNvPr id="34" name="Shape 26"/>
          <p:cNvSpPr/>
          <p:nvPr/>
        </p:nvSpPr>
        <p:spPr>
          <a:xfrm>
            <a:off x="777240" y="49377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6" descr="icons/laye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545" y="5092065"/>
            <a:ext cx="377190" cy="37719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691640" y="4800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Exasol is the backbone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1691640" y="516636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full hypothesis × sensor × time signature cube — every scenario the model reasons over — plus every diagnostic run's posterior and probe ranking, so any decision can be replayed and audited later.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HydraID — Exasol AI Build Challenge 2026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Identifiability ≠ Uncertainty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13567A"/>
          </a:solidFill>
          <a:ln/>
        </p:spPr>
      </p:sp>
      <p:pic>
        <p:nvPicPr>
          <p:cNvPr id="5" name="Image 0" descr="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207911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476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Observationally equivalent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23317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hypotheses can look identical — no sensor reading currently in place can tell them apart.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E8935B"/>
          </a:solidFill>
          <a:ln/>
        </p:spPr>
      </p:sp>
      <p:pic>
        <p:nvPicPr>
          <p:cNvPr id="9" name="Image 1" descr="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" y="3404997"/>
            <a:ext cx="276606" cy="2766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27355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HydraID abstains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365760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guessing between tied causes, the system flags the tie explicitly.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13567A"/>
          </a:solidFill>
          <a:ln/>
        </p:spPr>
      </p:sp>
      <p:pic>
        <p:nvPicPr>
          <p:cNvPr id="13" name="Image 2" descr="icons/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7" y="4730877"/>
            <a:ext cx="276606" cy="2766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5994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the deciding measurement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498348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the one next check that would actually separate them, by information gain ÷ cost.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537960" y="196596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766560" y="21488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Illustration: two tied hypotheses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903720" y="26060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13567A"/>
          </a:solidFill>
          <a:ln/>
        </p:spPr>
      </p:sp>
      <p:sp>
        <p:nvSpPr>
          <p:cNvPr id="19" name="Text 14"/>
          <p:cNvSpPr/>
          <p:nvPr/>
        </p:nvSpPr>
        <p:spPr>
          <a:xfrm>
            <a:off x="6903720" y="260604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at P204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235440" y="26060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21" name="Text 16"/>
          <p:cNvSpPr/>
          <p:nvPr/>
        </p:nvSpPr>
        <p:spPr>
          <a:xfrm>
            <a:off x="9235440" y="260604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bias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n26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903720" y="36118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&lt; tolerance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909560" y="3520440"/>
            <a:ext cx="2286000" cy="0"/>
          </a:xfrm>
          <a:prstGeom prst="line">
            <a:avLst/>
          </a:prstGeom>
          <a:noFill/>
          <a:ln w="19050">
            <a:solidFill>
              <a:srgbClr val="E8935B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6903720" y="3977640"/>
            <a:ext cx="4343400" cy="594360"/>
          </a:xfrm>
          <a:prstGeom prst="roundRect">
            <a:avLst>
              <a:gd name="adj" fmla="val 9231"/>
            </a:avLst>
          </a:prstGeom>
          <a:solidFill>
            <a:srgbClr val="E8935B"/>
          </a:solidFill>
          <a:ln/>
        </p:spPr>
      </p:sp>
      <p:sp>
        <p:nvSpPr>
          <p:cNvPr id="25" name="Text 20"/>
          <p:cNvSpPr/>
          <p:nvPr/>
        </p:nvSpPr>
        <p:spPr>
          <a:xfrm>
            <a:off x="6995160" y="397764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ABSTAIN — equivalent under current sensors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903720" y="475488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check: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903720" y="5074920"/>
            <a:ext cx="4343400" cy="82296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9050">
            <a:solidFill>
              <a:srgbClr val="13567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086600" y="507492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sensor n26  —  highest information gain ÷ cost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HydraID — Exasol AI Build Challenge 2026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8056" y="19659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2130552"/>
            <a:ext cx="3282696" cy="2916936"/>
          </a:xfrm>
          <a:prstGeom prst="roundRect">
            <a:avLst>
              <a:gd name="adj" fmla="val 1567"/>
            </a:avLst>
          </a:prstGeom>
          <a:solidFill>
            <a:srgbClr val="17324A"/>
          </a:solidFill>
          <a:ln w="12700">
            <a:solidFill>
              <a:srgbClr val="2E557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997964" y="30632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178" y="3178454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" y="3703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dashboard screenshot ]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76656" y="5394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6656" y="57607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spikes flagged against baseline signature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88536" y="19659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0B2545"/>
          </a:solidFill>
          <a:ln/>
        </p:spPr>
      </p:sp>
      <p:sp>
        <p:nvSpPr>
          <p:cNvPr id="12" name="Shape 9"/>
          <p:cNvSpPr/>
          <p:nvPr/>
        </p:nvSpPr>
        <p:spPr>
          <a:xfrm>
            <a:off x="4453128" y="2130552"/>
            <a:ext cx="3282696" cy="2916936"/>
          </a:xfrm>
          <a:prstGeom prst="roundRect">
            <a:avLst>
              <a:gd name="adj" fmla="val 1567"/>
            </a:avLst>
          </a:prstGeom>
          <a:solidFill>
            <a:srgbClr val="17324A"/>
          </a:solidFill>
          <a:ln w="12700">
            <a:solidFill>
              <a:srgbClr val="2E5578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5838444" y="30632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s/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658" y="3178454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62856" y="3703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dashboard screenshot ]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17136" y="5394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ABSTAINING — tied causes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17136" y="57607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hypotheses within noise tolerance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29016" y="19659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0B2545"/>
          </a:solidFill>
          <a:ln/>
        </p:spPr>
      </p:sp>
      <p:sp>
        <p:nvSpPr>
          <p:cNvPr id="19" name="Shape 15"/>
          <p:cNvSpPr/>
          <p:nvPr/>
        </p:nvSpPr>
        <p:spPr>
          <a:xfrm>
            <a:off x="8293608" y="2130552"/>
            <a:ext cx="3282696" cy="2916936"/>
          </a:xfrm>
          <a:prstGeom prst="roundRect">
            <a:avLst>
              <a:gd name="adj" fmla="val 1567"/>
            </a:avLst>
          </a:prstGeom>
          <a:solidFill>
            <a:srgbClr val="17324A"/>
          </a:solidFill>
          <a:ln w="12700">
            <a:solidFill>
              <a:srgbClr val="2E5578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9678924" y="30632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icons/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4138" y="3178454"/>
            <a:ext cx="281635" cy="28163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03336" y="3703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dashboard screenshot ]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357616" y="5394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357616" y="57607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recommended check, posterior collapses to one cause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placeholder panels for real Streamlit screenshots before presenting.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HydraID — Exasol AI Build Challenge 2026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Leave-one-case-out evaluation on 60 held-out scenarios (leak, demand, bias, stuck)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6771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35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all cases the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chose to resolve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0" y="21488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26771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35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 / 60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297680" y="3108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resolved with 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confident, correct call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21488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226771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9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60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955280" y="3108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correctly abstained on,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guessing wrong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10744200" cy="2331720"/>
          </a:xfrm>
          <a:prstGeom prst="roundRect">
            <a:avLst>
              <a:gd name="adj" fmla="val 3137"/>
            </a:avLst>
          </a:prstGeom>
          <a:solidFill>
            <a:srgbClr val="0B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096512"/>
            <a:ext cx="10378440" cy="1554480"/>
          </a:xfrm>
          <a:prstGeom prst="roundRect">
            <a:avLst>
              <a:gd name="adj" fmla="val 3529"/>
            </a:avLst>
          </a:prstGeom>
          <a:solidFill>
            <a:srgbClr val="17324A"/>
          </a:solidFill>
          <a:ln w="12700">
            <a:solidFill>
              <a:srgbClr val="2E557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40080" y="4096512"/>
            <a:ext cx="10378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confusion matrix screenshot 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742432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evidence, not a claim — show the actual table.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HydraID — Exasol AI Build Challenge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— Guardrails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69494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85416"/>
            <a:ext cx="512064" cy="512064"/>
          </a:xfrm>
          <a:prstGeom prst="ellipse">
            <a:avLst/>
          </a:prstGeom>
          <a:solidFill>
            <a:srgbClr val="13567A"/>
          </a:solidFill>
          <a:ln/>
        </p:spPr>
      </p:sp>
      <p:pic>
        <p:nvPicPr>
          <p:cNvPr id="6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" y="2300630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57400"/>
            <a:ext cx="5806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operational control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2404872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approves every action before anything happens in the field.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108960"/>
            <a:ext cx="69494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3328416"/>
            <a:ext cx="512064" cy="512064"/>
          </a:xfrm>
          <a:prstGeom prst="ellipse">
            <a:avLst/>
          </a:prstGeom>
          <a:solidFill>
            <a:srgbClr val="13567A"/>
          </a:solidFill>
          <a:ln/>
        </p:spPr>
      </p:sp>
      <p:pic>
        <p:nvPicPr>
          <p:cNvPr id="11" name="Image 1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" y="344363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200400"/>
            <a:ext cx="5806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faults downweighted, not trusted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417320" y="3547872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faulty sensor is treated as a hypothesis to test, never as ground truth.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4251960"/>
            <a:ext cx="69494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4471416"/>
            <a:ext cx="512064" cy="512064"/>
          </a:xfrm>
          <a:prstGeom prst="ellipse">
            <a:avLst/>
          </a:prstGeom>
          <a:solidFill>
            <a:srgbClr val="13567A"/>
          </a:solidFill>
          <a:ln/>
        </p:spPr>
      </p:sp>
      <p:pic>
        <p:nvPicPr>
          <p:cNvPr id="16" name="Image 2" descr="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" y="458663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343400"/>
            <a:ext cx="5806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versioned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4690872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version, data version, and inputs are stored in Exasol for full replay and audit.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635240" y="1965960"/>
            <a:ext cx="4069080" cy="4160520"/>
          </a:xfrm>
          <a:prstGeom prst="roundRect">
            <a:avLst>
              <a:gd name="adj" fmla="val 1798"/>
            </a:avLst>
          </a:prstGeom>
          <a:solidFill>
            <a:srgbClr val="0B2545"/>
          </a:solidFill>
          <a:ln/>
        </p:spPr>
      </p:sp>
      <p:sp>
        <p:nvSpPr>
          <p:cNvPr id="20" name="Text 15"/>
          <p:cNvSpPr/>
          <p:nvPr/>
        </p:nvSpPr>
        <p:spPr>
          <a:xfrm>
            <a:off x="790956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909560" y="27432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Exact-pipe-location guarantees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909560" y="34290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Live pilot deployment claims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7909560" y="41148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Fully autonomous shutoff / dispatch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7909560" y="51206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explicit about what this system doesn't claim is part of making it trustworthy.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HydraID — Exasol AI Build Challenge 2026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20116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267712"/>
            <a:ext cx="512064" cy="512064"/>
          </a:xfrm>
          <a:prstGeom prst="ellipse">
            <a:avLst/>
          </a:prstGeom>
          <a:solidFill>
            <a:srgbClr val="13567A"/>
          </a:solidFill>
          <a:ln/>
        </p:spPr>
      </p:sp>
      <p:pic>
        <p:nvPicPr>
          <p:cNvPr id="6" name="Image 0" descr="icons/drop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2382926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92608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BattLeDIM / L-Town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327355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network + scenarios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88536" y="20116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4568" y="2267712"/>
            <a:ext cx="512064" cy="512064"/>
          </a:xfrm>
          <a:prstGeom prst="ellipse">
            <a:avLst/>
          </a:prstGeom>
          <a:solidFill>
            <a:srgbClr val="13567A"/>
          </a:solidFill>
          <a:ln/>
        </p:spPr>
      </p:sp>
      <p:pic>
        <p:nvPicPr>
          <p:cNvPr id="11" name="Image 1" descr="icons/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782" y="2382926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92608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EPANET / WNTR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44568" y="327355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hydraulic simulation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83296" y="20116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9328" y="2267712"/>
            <a:ext cx="512064" cy="512064"/>
          </a:xfrm>
          <a:prstGeom prst="ellipse">
            <a:avLst/>
          </a:prstGeom>
          <a:solidFill>
            <a:srgbClr val="13567A"/>
          </a:solidFill>
          <a:ln/>
        </p:spPr>
      </p:sp>
      <p:pic>
        <p:nvPicPr>
          <p:cNvPr id="16" name="Image 2" descr="icons/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4542" y="2382926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292608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scikit-learn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39328" y="327355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cause inference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93776" y="393192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4187952"/>
            <a:ext cx="512064" cy="512064"/>
          </a:xfrm>
          <a:prstGeom prst="ellipse">
            <a:avLst/>
          </a:prstGeom>
          <a:solidFill>
            <a:srgbClr val="13567A"/>
          </a:solidFill>
          <a:ln/>
        </p:spPr>
      </p:sp>
      <p:pic>
        <p:nvPicPr>
          <p:cNvPr id="21" name="Image 3" descr="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" y="4303166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84632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9808" y="519379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cube, UDFs, audit log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88536" y="393192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44568" y="4187952"/>
            <a:ext cx="512064" cy="512064"/>
          </a:xfrm>
          <a:prstGeom prst="ellipse">
            <a:avLst/>
          </a:prstGeom>
          <a:solidFill>
            <a:srgbClr val="13567A"/>
          </a:solidFill>
          <a:ln/>
        </p:spPr>
      </p:sp>
      <p:pic>
        <p:nvPicPr>
          <p:cNvPr id="26" name="Image 4" descr="icons/deskt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9782" y="4303166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44568" y="484632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Plotly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44568" y="519379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83296" y="393192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39328" y="4187952"/>
            <a:ext cx="512064" cy="512064"/>
          </a:xfrm>
          <a:prstGeom prst="ellipse">
            <a:avLst/>
          </a:prstGeom>
          <a:solidFill>
            <a:srgbClr val="13567A"/>
          </a:solidFill>
          <a:ln/>
        </p:spPr>
      </p:sp>
      <p:pic>
        <p:nvPicPr>
          <p:cNvPr id="31" name="Image 5" descr="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4542" y="4303166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9328" y="484632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39328" y="519379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pipe-distance check costing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end-to-end with Docker for reproducible local runs.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HydraID — Exasol AI Build Challenge 2026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2331720" cy="749808"/>
          </a:xfrm>
          <a:prstGeom prst="rect">
            <a:avLst/>
          </a:prstGeom>
          <a:solidFill>
            <a:srgbClr val="13567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65960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88920" y="1965960"/>
            <a:ext cx="8915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96596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Scenario-scale joins and in-database UDFs power the hypothesis cube directly.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2331720" cy="749808"/>
          </a:xfrm>
          <a:prstGeom prst="rect">
            <a:avLst/>
          </a:prstGeom>
          <a:solidFill>
            <a:srgbClr val="13567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80720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Chennai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88920" y="2807208"/>
            <a:ext cx="8915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80720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ML — every run versioned, every result replayable.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648456"/>
            <a:ext cx="2331720" cy="749808"/>
          </a:xfrm>
          <a:prstGeom prst="rect">
            <a:avLst/>
          </a:prstGeom>
          <a:solidFill>
            <a:srgbClr val="13567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48456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88920" y="3648456"/>
            <a:ext cx="8915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3648456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&amp; resilient infrastructure, applied to a real utility problem.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489704"/>
            <a:ext cx="2331720" cy="749808"/>
          </a:xfrm>
          <a:prstGeom prst="rect">
            <a:avLst/>
          </a:prstGeom>
          <a:solidFill>
            <a:srgbClr val="13567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489704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TIDEL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88920" y="4489704"/>
            <a:ext cx="8915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4489704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API — the decision loop is a service, not a notebook.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5330952"/>
            <a:ext cx="2331720" cy="749808"/>
          </a:xfrm>
          <a:prstGeom prst="rect">
            <a:avLst/>
          </a:prstGeom>
          <a:solidFill>
            <a:srgbClr val="13567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33095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88920" y="5330952"/>
            <a:ext cx="8915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5330952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pilot pathway from shadow-mode to supervised field trial.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HydraID — Exasol AI Build Challenge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07108" y="1965960"/>
            <a:ext cx="585216" cy="585216"/>
          </a:xfrm>
          <a:prstGeom prst="ellipse">
            <a:avLst/>
          </a:prstGeom>
          <a:solidFill>
            <a:srgbClr val="13567A"/>
          </a:solidFill>
          <a:ln/>
        </p:spPr>
      </p:sp>
      <p:sp>
        <p:nvSpPr>
          <p:cNvPr id="5" name="Text 3"/>
          <p:cNvSpPr/>
          <p:nvPr/>
        </p:nvSpPr>
        <p:spPr>
          <a:xfrm>
            <a:off x="2007108" y="19659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032504" y="2258568"/>
            <a:ext cx="329184" cy="0"/>
          </a:xfrm>
          <a:prstGeom prst="line">
            <a:avLst/>
          </a:prstGeom>
          <a:noFill/>
          <a:ln w="25400">
            <a:solidFill>
              <a:srgbClr val="D8E3E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85216" y="28346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3090672"/>
            <a:ext cx="457200" cy="457200"/>
          </a:xfrm>
          <a:prstGeom prst="ellipse">
            <a:avLst/>
          </a:prstGeom>
          <a:solidFill>
            <a:srgbClr val="E8935B"/>
          </a:solidFill>
          <a:ln/>
        </p:spPr>
      </p:sp>
      <p:pic>
        <p:nvPicPr>
          <p:cNvPr id="9" name="Image 0" descr="icons/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" y="3193542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365760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Cross-network transfer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1248" y="4114800"/>
            <a:ext cx="2916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same decision loop on a second network — L-Town → Hanoi.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01868" y="1965960"/>
            <a:ext cx="585216" cy="585216"/>
          </a:xfrm>
          <a:prstGeom prst="ellipse">
            <a:avLst/>
          </a:prstGeom>
          <a:solidFill>
            <a:srgbClr val="13567A"/>
          </a:solidFill>
          <a:ln/>
        </p:spPr>
      </p:sp>
      <p:sp>
        <p:nvSpPr>
          <p:cNvPr id="13" name="Text 10"/>
          <p:cNvSpPr/>
          <p:nvPr/>
        </p:nvSpPr>
        <p:spPr>
          <a:xfrm>
            <a:off x="5801868" y="19659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827264" y="2258568"/>
            <a:ext cx="329184" cy="0"/>
          </a:xfrm>
          <a:prstGeom prst="line">
            <a:avLst/>
          </a:prstGeom>
          <a:noFill/>
          <a:ln w="25400">
            <a:solidFill>
              <a:srgbClr val="D8E3ED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4379976" y="28346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36008" y="3090672"/>
            <a:ext cx="457200" cy="457200"/>
          </a:xfrm>
          <a:prstGeom prst="ellipse">
            <a:avLst/>
          </a:prstGeom>
          <a:solidFill>
            <a:srgbClr val="E8935B"/>
          </a:solidFill>
          <a:ln/>
        </p:spPr>
      </p:sp>
      <p:pic>
        <p:nvPicPr>
          <p:cNvPr id="17" name="Image 1" descr="icons/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878" y="3193542"/>
            <a:ext cx="251460" cy="2514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36008" y="365760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SCADA / GIS shadow mode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36008" y="4114800"/>
            <a:ext cx="2916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pilot: watch real data flow through the system without acting on it.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9596628" y="1965960"/>
            <a:ext cx="585216" cy="585216"/>
          </a:xfrm>
          <a:prstGeom prst="ellipse">
            <a:avLst/>
          </a:prstGeom>
          <a:solidFill>
            <a:srgbClr val="13567A"/>
          </a:solidFill>
          <a:ln/>
        </p:spPr>
      </p:sp>
      <p:sp>
        <p:nvSpPr>
          <p:cNvPr id="21" name="Text 17"/>
          <p:cNvSpPr/>
          <p:nvPr/>
        </p:nvSpPr>
        <p:spPr>
          <a:xfrm>
            <a:off x="9596628" y="19659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8174736" y="28346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430768" y="3090672"/>
            <a:ext cx="457200" cy="457200"/>
          </a:xfrm>
          <a:prstGeom prst="ellipse">
            <a:avLst/>
          </a:prstGeom>
          <a:solidFill>
            <a:srgbClr val="E8935B"/>
          </a:solidFill>
          <a:ln/>
        </p:spPr>
      </p:sp>
      <p:pic>
        <p:nvPicPr>
          <p:cNvPr id="24" name="Image 2" descr="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638" y="3193542"/>
            <a:ext cx="251460" cy="2514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30768" y="365760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placement studies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430768" y="4114800"/>
            <a:ext cx="2916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one more sensor buy the most identifiability, network-wide?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HydraID — Exasol AI Build Challenge 2026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28716" y="8229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308" y="98755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874520"/>
            <a:ext cx="94457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“Reliable AI isn't knowing the answer —</a:t>
            </a:r>
            <a:endParaRPr lang="en-US" sz="2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knowing what the data supports,</a:t>
            </a:r>
            <a:endParaRPr lang="en-US" sz="2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 to measure next.”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271516" y="3977640"/>
            <a:ext cx="1645920" cy="0"/>
          </a:xfrm>
          <a:prstGeom prst="line">
            <a:avLst/>
          </a:prstGeom>
          <a:noFill/>
          <a:ln w="25400">
            <a:solidFill>
              <a:srgbClr val="E893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2976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github.com/haripriyasubbiah/hydraid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HydraID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52120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9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Vamika Pradeep</cp:lastModifiedBy>
  <cp:revision>2</cp:revision>
  <dcterms:created xsi:type="dcterms:W3CDTF">2026-08-23T17:11:02Z</dcterms:created>
  <dcterms:modified xsi:type="dcterms:W3CDTF">2026-08-23T17:16:12Z</dcterms:modified>
</cp:coreProperties>
</file>